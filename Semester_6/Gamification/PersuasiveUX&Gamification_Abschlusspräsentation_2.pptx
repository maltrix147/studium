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8" r:id="rId5"/>
    <p:sldId id="259" r:id="rId6"/>
    <p:sldId id="260" r:id="rId7"/>
    <p:sldId id="257" r:id="rId8"/>
    <p:sldId id="261" r:id="rId9"/>
    <p:sldId id="262" r:id="rId10"/>
    <p:sldId id="263" r:id="rId11"/>
    <p:sldId id="264" r:id="rId12"/>
    <p:sldId id="278" r:id="rId13"/>
    <p:sldId id="276" r:id="rId14"/>
    <p:sldId id="271" r:id="rId15"/>
    <p:sldId id="283" r:id="rId16"/>
    <p:sldId id="269" r:id="rId17"/>
    <p:sldId id="270" r:id="rId18"/>
    <p:sldId id="274" r:id="rId19"/>
    <p:sldId id="279" r:id="rId20"/>
    <p:sldId id="280" r:id="rId21"/>
    <p:sldId id="273" r:id="rId22"/>
    <p:sldId id="282" r:id="rId23"/>
    <p:sldId id="281" r:id="rId24"/>
    <p:sldId id="275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8AC6"/>
    <a:srgbClr val="7C4196"/>
    <a:srgbClr val="AA2484"/>
    <a:srgbClr val="5861AA"/>
    <a:srgbClr val="595AA5"/>
    <a:srgbClr val="5A68AE"/>
    <a:srgbClr val="222222"/>
    <a:srgbClr val="5E72B4"/>
    <a:srgbClr val="6075B7"/>
    <a:srgbClr val="6886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27BFD0-3777-8941-3B93-3F3469214208}" v="13" dt="2026-07-08T17:49:56.266"/>
    <p1510:client id="{3EF65B2D-72E7-D36F-6CBE-CB629F60C7D1}" v="78" dt="2026-07-08T20:20:07.753"/>
    <p1510:client id="{502C6402-ACF0-46E6-BAA1-CCA4CD39F0F0}" v="146" dt="2026-07-08T16:50:30.015"/>
    <p1510:client id="{8C3B3C58-DBE2-3344-B0D7-BCDC9046080C}" v="2" dt="2026-07-08T20:22:17.696"/>
    <p1510:client id="{9463C70E-65D2-8014-F265-FDA0BAAA9E30}" v="149" dt="2026-07-08T18:13:49.660"/>
    <p1510:client id="{9540BE64-C9EB-FB2A-F841-9445B15B37B8}" v="2" dt="2026-07-08T20:21:19.582"/>
    <p1510:client id="{C6D7D022-3E21-4F3A-A359-451F9F25DB99}" v="4" dt="2026-07-08T19:56:10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D01BE-EE10-4239-8C8F-27B397052F2C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DC11C-EEF0-444C-AA40-8606C410F3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459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4D4E-BB46-D89C-BE04-FCBF6F7EA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D0865A6-6D6C-C2E5-F798-0278AD197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1CD12D9-8DAC-9AF7-CAE6-D79A77F1D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C53FF4-1DD0-5D3A-FD6C-170B40AE6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350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786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4206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CD3D-92D8-56CE-01C8-6C9822FF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BAAFEA3-ED90-DF8C-A395-BEC6F59BD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6C308AC-17D9-E587-E360-084C155DE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5B78D9-AB81-D3BF-9F53-7A3CD522E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7275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B205-CC88-B18F-E2E0-27EB6D5DB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318C008-C4AE-F687-9FC1-403179E4C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351B1F-8A86-FC57-7D03-E79325AB4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7E443D-A47E-A343-E78E-4DD811785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5938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AB25-3649-6AFF-3228-E96DB1E7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9DEFC44-2AEB-9091-8F41-3549522D4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5143813-CB56-3392-2BE0-007598614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D67B78-AD57-A161-2307-CA74CEAC3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208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9D099-321B-041E-7768-E2839DC9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5C04868-3C5E-A0BD-2F7D-1E97AF175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76E592D-BB40-C193-FACE-EA1DC054E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2C1E59-9B35-99B0-D7C0-F31CC661D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11C-EEF0-444C-AA40-8606C410F333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17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CA829-81A6-E521-D3C8-5F5821BAF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E0D8FD-618B-A456-09B9-505CE1056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9CC201-3B31-4469-A5A5-5675A00DB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F55E6-A35B-4C0C-A9DA-0A6D5D1041EC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25CAF8-AECD-ECD8-AE45-92A4FEB7F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26991E-99C1-5501-2BF1-6ED547E4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0648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B36A69-2971-E988-AA8C-8FDBEC11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1579BF-29AF-1931-7453-46A316C59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C4E547-7AB4-6A32-7BD8-15777FD3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26E-9D65-4F6A-81E5-D6B1DD19F849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9DE63E-86E8-5C93-F4B5-D0D3FE54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BE0406-509C-405D-1A29-C8F7947EA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9502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145D6-88BF-D670-5DA7-AA7EA6AAD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8DB947-C8BE-42C2-D95C-AA9408B49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D317F0-5503-AA12-A6C4-053ECF15C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1352-2759-4C39-90BF-5D6FE38069D3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F0A8D0-DFDF-C7F5-3688-227C7309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22DAFD-0470-E873-3C5C-157F7497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077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24F9B1-3E5E-8D13-0FDA-791489C7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545E7A-BE4E-961D-EF3E-7F66B4A4D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A4CF7B-2D5A-0C5D-D064-A6B267724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8230B9-30B2-FEB6-4D80-5D3DC3F6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A54DD-3CB9-42CD-8C2E-28DB249D7D2E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7EBD84-F491-8198-B78C-BF49F947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901C6F-0D79-C2E8-1695-6C04E52E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3847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190CC6-FDEB-B1ED-918B-5AC582B0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1B6673-C99E-3CEB-3290-1C7329400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1721AF-8753-26E6-6759-44AF210C6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44E44A2-01C3-ECA7-97A9-3FBD03214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1FDFAD-C10C-0A7D-0F70-E01180C0A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3224FA0-68DA-5972-7FE3-BF6A2C80D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F9888-CEA8-4B83-B65F-4A7D42842093}" type="datetime1">
              <a:rPr lang="de-DE" smtClean="0"/>
              <a:t>08.07.2026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3D1DD53-C223-F292-D87E-6D445C5D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FCD77DC-7693-C8A0-0542-AE0B5CE4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01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27F45-2C09-D00B-F47A-7AFE827F8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472BDE-D4BE-9C4E-1823-0725BC628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CF0A-267F-4DA1-9F3B-1E83467CAB39}" type="datetime1">
              <a:rPr lang="de-DE" smtClean="0"/>
              <a:t>08.07.2026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AAF646-D595-1AC6-7A5D-629C8130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72EDCF-7627-6B42-DC57-A0414053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663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035C2FD-C6DF-EE07-29F9-A014A45E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B7C01-F1F9-4180-A8AB-37CC32DFF08D}" type="datetime1">
              <a:rPr lang="de-DE" smtClean="0"/>
              <a:t>08.07.2026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409F5C6-DBCA-3976-1379-C1CAB55EE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DED884-418A-4574-A21C-B3A2874B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1793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91361B-C789-1A54-E96A-5D0352108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498A22-96B9-A962-A3EF-FCD2DE6C9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0DA85D-7B87-6FDD-A27D-4644FF0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67CFCB-66D5-44D5-76E1-5356109B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B93A-B440-4675-A07C-10584CEAEBAE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B4050-C8A5-553B-84A9-654F25E52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E2A5B5-CB69-7FDD-E82E-03F3D498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986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B09661-CB08-DD6A-A4FF-DC7E7EA1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D2B7B41-61B8-6B3D-8DD9-9EC2A3319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1CB75F-9ED0-030A-3E69-174035838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2E42A1-9F85-4596-9022-F77F8DBB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7375-6770-485C-9487-C33B148F79E5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AF791A-1CA4-CDC9-F4B6-4C8B16C6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E5FEE3-1A49-D048-BFD4-2FF064B9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5764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5905F-7BF1-D4B8-7CF8-D6BADCBA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425A13F-38A7-3827-EF11-219DF7FA3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79C169-1C6C-346E-67B9-36623468E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CA081-5AB0-4461-AC04-E945F385503D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FA10BC-A7DC-F413-B650-7E8C046E2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C2B874-7DF0-62A8-7A39-DD6B0F62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8814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F54738B-3A6C-ACED-74BE-FF0AA5D13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2905CF-AF01-A624-551D-5BB9F2681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89929F-CCD1-6BE3-464F-524477DB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CB964-F539-4C3C-B4E1-7C4F5DAE8A04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53D7C4-003F-A0A4-D1C6-9F6AB5F41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FD10CF-FB2C-288E-2447-777B394E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37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CB8591A-7525-E3C7-45A1-AA9014FB4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0BF1B7-5FDB-4A5E-8330-4E625F31C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4104AA-4238-BBEC-E22E-C82A5E3A0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9F9C9-C0D9-4C3D-A0C9-CD251C52690E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34CFDD-CECF-3F67-873F-4549730DF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DCA985-F71D-0A91-DC0F-F8D9BB3CA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1795C-DF98-457E-A0E8-9F57175ABD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799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DC37863-FEA5-7956-470E-8334AC8FC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848" y="0"/>
            <a:ext cx="8853152" cy="29992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95F78DD-2813-3688-FFDE-BB2522CE5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8979"/>
            <a:ext cx="9144000" cy="2387600"/>
          </a:xfrm>
        </p:spPr>
        <p:txBody>
          <a:bodyPr/>
          <a:lstStyle/>
          <a:p>
            <a:r>
              <a:rPr lang="de-DE" b="1">
                <a:solidFill>
                  <a:schemeClr val="bg2">
                    <a:lumMod val="25000"/>
                  </a:schemeClr>
                </a:solidFill>
              </a:rPr>
              <a:t>Abschlusspräsentation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0AF6D4-189D-C7AB-CCBC-7E0B2D99D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8654"/>
            <a:ext cx="9144000" cy="1655762"/>
          </a:xfrm>
        </p:spPr>
        <p:txBody>
          <a:bodyPr/>
          <a:lstStyle/>
          <a:p>
            <a:r>
              <a:rPr lang="de-DE" b="1">
                <a:solidFill>
                  <a:srgbClr val="5C6BB0"/>
                </a:solidFill>
              </a:rPr>
              <a:t>Entwicklung eines Persuasive-UX-Systems für Fitnessstudios </a:t>
            </a:r>
            <a:endParaRPr lang="de-DE">
              <a:solidFill>
                <a:srgbClr val="5C6BB0"/>
              </a:solidFill>
            </a:endParaRPr>
          </a:p>
          <a:p>
            <a:endParaRPr lang="de-DE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6AD3A60-41FC-DAE4-849E-C946F38D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1A115-07A5-43B6-B8B6-A35E9D531F32}" type="datetime1">
              <a:rPr lang="de-DE" smtClean="0"/>
              <a:t>08.07.2026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2253A43-0DF5-DC6A-C097-EB8E7129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2F50313-D747-B54B-77EB-1D9E430C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358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CA7B8-06FC-8844-837F-1C720B517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Teamvorstellung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1A2384-78FE-4C68-B5EF-F6E1CC5FF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6876E31-A46F-2CAA-AC3B-959CDB530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35" y="2183775"/>
            <a:ext cx="9705708" cy="270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6D34D3C-C917-9EEE-E087-922BE2CF4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32071F6F-C91A-9427-EE07-6B8559ED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DD7B-21F4-4D95-84E9-2A9071AE55A8}" type="datetime1">
              <a:rPr lang="de-DE" smtClean="0"/>
              <a:t>08.07.2026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6D00383-7CA9-0956-F423-F5E9160F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7F676A9-B6BD-5985-9C89-E5898E5AD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5391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8949AE-E7DE-8F9B-AF65-D0873C7A1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56D1A7-573C-D0FA-85D2-077FC61AA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effectLst/>
              </a:rPr>
              <a:t>Zielsetzung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effectLst/>
              </a:rPr>
              <a:t>Nutzungskontext &amp; Zielgruppen</a:t>
            </a:r>
          </a:p>
          <a:p>
            <a:pPr marL="457200" indent="-457200">
              <a:buAutoNum type="arabicPeriod"/>
            </a:pPr>
            <a:r>
              <a:rPr lang="de-DE" sz="2200" b="1" dirty="0"/>
              <a:t>Pain Points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effectLst/>
              </a:rPr>
              <a:t>Marktanalyse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solidFill>
                  <a:srgbClr val="6F99CF"/>
                </a:solidFill>
                <a:effectLst/>
              </a:rPr>
              <a:t>Unser System</a:t>
            </a:r>
          </a:p>
          <a:p>
            <a:pPr lvl="1">
              <a:buFont typeface="Symbol,sans-serif" panose="05050102010706020507" pitchFamily="18" charset="2"/>
              <a:buChar char="-"/>
            </a:pPr>
            <a:r>
              <a:rPr lang="de-DE" b="1" dirty="0">
                <a:solidFill>
                  <a:srgbClr val="698AC6"/>
                </a:solidFill>
              </a:rPr>
              <a:t>Farbcodierung</a:t>
            </a:r>
            <a:endParaRPr lang="en-US" dirty="0">
              <a:solidFill>
                <a:srgbClr val="698AC6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200" b="1" dirty="0">
                <a:solidFill>
                  <a:srgbClr val="5A68AE"/>
                </a:solidFill>
                <a:effectLst/>
              </a:rPr>
              <a:t>Support Band</a:t>
            </a:r>
            <a:endParaRPr lang="de-DE" dirty="0">
              <a:solidFill>
                <a:srgbClr val="5A68AE"/>
              </a:solidFill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200" b="1" dirty="0">
                <a:solidFill>
                  <a:srgbClr val="595AA5"/>
                </a:solidFill>
                <a:effectLst/>
              </a:rPr>
              <a:t>Hilfe-Button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200" b="1" dirty="0">
                <a:solidFill>
                  <a:srgbClr val="7C4196"/>
                </a:solidFill>
              </a:rPr>
              <a:t>Stempelkarten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200" b="1" dirty="0" err="1">
                <a:solidFill>
                  <a:srgbClr val="AA2484"/>
                </a:solidFill>
                <a:effectLst/>
              </a:rPr>
              <a:t>Rewardsystem</a:t>
            </a:r>
            <a:endParaRPr lang="de-DE" sz="2200" b="1" dirty="0">
              <a:solidFill>
                <a:srgbClr val="AA2484"/>
              </a:solidFill>
              <a:effectLst/>
            </a:endParaRPr>
          </a:p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effectLst/>
              </a:rPr>
              <a:t>Diskussion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200" b="1" dirty="0">
                <a:effectLst/>
              </a:rPr>
              <a:t>Fragen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F791F68-BE7F-3A18-5F71-9A834E9BF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6ACAB6F-EBF7-4352-D881-56CF3A286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EB74-9AF1-448D-8BD4-C6FBA37F015F}" type="datetime1">
              <a:rPr lang="de-DE" smtClean="0"/>
              <a:t>08.07.2026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45FB819-0C90-58D6-6CB8-FFDC656FB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C1526C7-BCE6-3C8D-54F7-7829C95A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595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A27119-D2BF-C205-6F8E-20135450E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effectLst/>
              </a:rPr>
              <a:t>Zielsetzung</a:t>
            </a:r>
            <a:endParaRPr lang="de-DE" b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1FA10A-28D3-73C1-5008-FC357BA73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sz="1800" b="1">
                <a:solidFill>
                  <a:srgbClr val="5C55A1"/>
                </a:solidFill>
              </a:rPr>
              <a:t>Problem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/>
              <a:t>Anfänger trauen sich aus Unsicherheit nicht, nach Hilfe zu fragen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/>
              <a:t>Erfahrene Mitglieder trauen sich nicht, ungefragt zu helfen</a:t>
            </a:r>
          </a:p>
          <a:p>
            <a:pPr marL="0" indent="0">
              <a:buNone/>
            </a:pPr>
            <a:endParaRPr lang="de-DE" sz="1800"/>
          </a:p>
          <a:p>
            <a:pPr marL="0" indent="0">
              <a:buNone/>
            </a:pPr>
            <a:r>
              <a:rPr lang="de-DE" sz="1800" b="1">
                <a:solidFill>
                  <a:srgbClr val="5C55A1"/>
                </a:solidFill>
              </a:rPr>
              <a:t>Ziel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/>
              <a:t>Hemmschwellen für Anfänger abbauen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/>
              <a:t>Erfahrene Mitglieder wertschätzen und aktiv einbinden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/>
              <a:t>Eine positive und hilfsbereite </a:t>
            </a:r>
            <a:r>
              <a:rPr lang="de-DE" sz="1800" err="1"/>
              <a:t>Gym</a:t>
            </a:r>
            <a:r>
              <a:rPr lang="de-DE" sz="1800"/>
              <a:t>-Community fördern</a:t>
            </a:r>
          </a:p>
          <a:p>
            <a:pPr marL="0" indent="0">
              <a:buNone/>
            </a:pPr>
            <a:endParaRPr lang="de-DE" sz="1800"/>
          </a:p>
          <a:p>
            <a:pPr marL="0" indent="0">
              <a:buNone/>
            </a:pPr>
            <a:r>
              <a:rPr lang="de-DE" sz="1800" b="1">
                <a:solidFill>
                  <a:srgbClr val="5C55A1"/>
                </a:solidFill>
              </a:rPr>
              <a:t>Lösungsansatz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/>
              <a:t>Ganzheitliches Persuasive-UX-System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/>
              <a:t>Kombination aus Nudging und Gamification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/>
              <a:t>Positive Anreize statt Druck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800"/>
              <a:t>Vernetzung von Anfängern und erfahrenen Mitgliedern</a:t>
            </a:r>
            <a:endParaRPr lang="de-DE" sz="1800" b="1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E40CC12-0AB1-1A5D-82B9-AB38FB0DF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E25F43C-6C68-15BA-612D-9D393F066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EC7B-B150-452C-B781-24B5317DD33C}" type="datetime1">
              <a:rPr lang="de-DE" smtClean="0"/>
              <a:t>08.07.2026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4486749-8010-50C8-F0CD-9FC09F413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74C21FF-F438-3FEA-43F3-1E6C6362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7867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2E6CE-364C-0984-79E2-8B4A13F39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F68D9-8463-AC0C-3C6E-44955604D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effectLst/>
              </a:rPr>
              <a:t>Nutzungskontext &amp; Zielgruppen</a:t>
            </a:r>
            <a:endParaRPr lang="de-DE" b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11993F-60A3-1401-5028-D79E524A4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b="1">
                <a:solidFill>
                  <a:srgbClr val="5C55A1"/>
                </a:solidFill>
              </a:rPr>
              <a:t>Kontext: Fitnessstudio als sozialer Raum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/>
              <a:t>Hohe Sichtbarkeit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/>
              <a:t>Bewertungsangst bei Anfängern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/>
              <a:t>Komplexe Trainingsfläche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/>
              <a:t>Wenig soziale Interaktion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400"/>
              <a:t>Begrenzte Verfügbarkeit von Trainern</a:t>
            </a:r>
            <a:endParaRPr lang="de-DE" sz="2400" b="1">
              <a:solidFill>
                <a:srgbClr val="5C55A1"/>
              </a:solidFill>
            </a:endParaRPr>
          </a:p>
          <a:p>
            <a:pPr marL="0" indent="0">
              <a:buNone/>
            </a:pPr>
            <a:endParaRPr lang="de-DE" sz="18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199F2EE-7E90-5A5A-588C-58B142CC6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44A743-E325-0460-156D-083545586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C743-2A22-4295-95DD-7A21934AC53A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7F72D3-E819-B6DF-91B8-DFAF2D13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6F98A9-4769-B59A-2F53-B5E53A05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172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930CE2-EB86-9A3C-28D2-6DC93B512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effectLst/>
              </a:rPr>
              <a:t>Nutzungskontext &amp; Zielgruppen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9463CD-430C-36E1-7EA6-07FAA1256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51048" y="2199323"/>
            <a:ext cx="2636520" cy="3471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/>
              <a:t>Probleme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/>
              <a:t>Unsicher im </a:t>
            </a:r>
            <a:r>
              <a:rPr lang="de-DE" sz="1600" err="1"/>
              <a:t>Gym</a:t>
            </a:r>
            <a:r>
              <a:rPr lang="de-DE" sz="1600"/>
              <a:t>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/>
              <a:t>Angst vor Fehlern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/>
              <a:t>Fragt nicht nach Hilfe</a:t>
            </a:r>
          </a:p>
          <a:p>
            <a:pPr marL="0" indent="0">
              <a:buNone/>
            </a:pPr>
            <a:endParaRPr lang="de-DE" sz="1600"/>
          </a:p>
          <a:p>
            <a:pPr marL="0" indent="0">
              <a:buNone/>
            </a:pPr>
            <a:r>
              <a:rPr lang="de-DE" sz="1600" b="1"/>
              <a:t>Braucht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/>
              <a:t>Orientierung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/>
              <a:t>Psychologische Sicherheit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/>
              <a:t>Niedrige Hemmschwelle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2254E6-59E4-0ED5-331C-7301C7B9C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800BCC5-12EF-A9F4-11E6-10492179D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2704338"/>
            <a:ext cx="2071116" cy="2071116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DD234D2-11AB-9CB6-37CF-BB837F561187}"/>
              </a:ext>
            </a:extLst>
          </p:cNvPr>
          <p:cNvSpPr txBox="1"/>
          <p:nvPr/>
        </p:nvSpPr>
        <p:spPr>
          <a:xfrm>
            <a:off x="381000" y="2249424"/>
            <a:ext cx="2335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>
                <a:solidFill>
                  <a:srgbClr val="585CA6"/>
                </a:solidFill>
              </a:rPr>
              <a:t>Melanie (Anfängerin)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A490AEA-088B-110C-7040-5B55BD5B3596}"/>
              </a:ext>
            </a:extLst>
          </p:cNvPr>
          <p:cNvSpPr txBox="1"/>
          <p:nvPr/>
        </p:nvSpPr>
        <p:spPr>
          <a:xfrm>
            <a:off x="431619" y="4861036"/>
            <a:ext cx="22033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/>
              <a:t>„Ich möchte mich im Fitnessstudio sicher fühlen und ohne Angst nach Hilfe fragen können.“</a:t>
            </a:r>
            <a:endParaRPr lang="de-DE" sz="1000" b="1" i="1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96EE8DFB-F8FC-70D9-031E-73636ECBD559}"/>
              </a:ext>
            </a:extLst>
          </p:cNvPr>
          <p:cNvCxnSpPr>
            <a:cxnSpLocks/>
          </p:cNvCxnSpPr>
          <p:nvPr/>
        </p:nvCxnSpPr>
        <p:spPr>
          <a:xfrm>
            <a:off x="6027964" y="2113741"/>
            <a:ext cx="0" cy="3566469"/>
          </a:xfrm>
          <a:prstGeom prst="line">
            <a:avLst/>
          </a:prstGeom>
          <a:ln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79B0DF"/>
                </a:gs>
                <a:gs pos="83000">
                  <a:srgbClr val="6A8CC7"/>
                </a:gs>
                <a:gs pos="100000">
                  <a:srgbClr val="883A91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EE3FEFF4-2215-8ECA-39DF-668E74DBDAB5}"/>
              </a:ext>
            </a:extLst>
          </p:cNvPr>
          <p:cNvSpPr txBox="1">
            <a:spLocks/>
          </p:cNvSpPr>
          <p:nvPr/>
        </p:nvSpPr>
        <p:spPr>
          <a:xfrm>
            <a:off x="9174480" y="2199323"/>
            <a:ext cx="2636520" cy="34717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1600" b="1"/>
              <a:t>Probleme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/>
              <a:t>Möchte helfen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/>
              <a:t>Hält sich zurück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/>
              <a:t>Angst, aufdringlich zu wirken</a:t>
            </a:r>
          </a:p>
          <a:p>
            <a:pPr>
              <a:buFont typeface="Symbol" panose="05050102010706020507" pitchFamily="18" charset="2"/>
              <a:buChar char="-"/>
            </a:pPr>
            <a:endParaRPr lang="de-DE" sz="1600"/>
          </a:p>
          <a:p>
            <a:pPr marL="0" indent="0">
              <a:buFont typeface="Arial" panose="020B0604020202020204" pitchFamily="34" charset="0"/>
              <a:buNone/>
            </a:pPr>
            <a:r>
              <a:rPr lang="de-DE" sz="1600" b="1"/>
              <a:t>Braucht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/>
              <a:t>Anerkennung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/>
              <a:t>Zugehörigkeit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1600"/>
              <a:t>Möglichkeit, Wissen weiterzugeben</a:t>
            </a:r>
            <a:endParaRPr lang="de-DE" sz="1600" b="1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7B603F63-601E-A313-D9A4-B7BB4D0F2D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6349" y="2704338"/>
            <a:ext cx="1933041" cy="2071116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4251E277-0E4E-2400-1724-932784A01AAD}"/>
              </a:ext>
            </a:extLst>
          </p:cNvPr>
          <p:cNvSpPr txBox="1"/>
          <p:nvPr/>
        </p:nvSpPr>
        <p:spPr>
          <a:xfrm>
            <a:off x="6733492" y="2249424"/>
            <a:ext cx="178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>
                <a:solidFill>
                  <a:srgbClr val="AA2584"/>
                </a:solidFill>
              </a:rPr>
              <a:t>Marc (Erfahren)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548DA357-3716-0E92-36FD-DC3E12E295FE}"/>
              </a:ext>
            </a:extLst>
          </p:cNvPr>
          <p:cNvSpPr txBox="1"/>
          <p:nvPr/>
        </p:nvSpPr>
        <p:spPr>
          <a:xfrm>
            <a:off x="6555051" y="4861036"/>
            <a:ext cx="2203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>
                <a:effectLst/>
              </a:rPr>
              <a:t>"Hinter den Muskeln steckt jemand, der diesen Sport liebt und sein Wissen gerne teilt, um anderen den Weg zu erleichtern.“</a:t>
            </a:r>
            <a:endParaRPr lang="de-DE" sz="1000" b="1" i="1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E728BE2-017B-4212-5CAF-FE48A6947596}"/>
              </a:ext>
            </a:extLst>
          </p:cNvPr>
          <p:cNvSpPr txBox="1"/>
          <p:nvPr/>
        </p:nvSpPr>
        <p:spPr>
          <a:xfrm>
            <a:off x="4339485" y="6123543"/>
            <a:ext cx="3317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>
                <a:solidFill>
                  <a:srgbClr val="5D6EB2"/>
                </a:solidFill>
              </a:rPr>
              <a:t>Unser System verbindet beide</a:t>
            </a:r>
          </a:p>
        </p:txBody>
      </p:sp>
      <p:cxnSp>
        <p:nvCxnSpPr>
          <p:cNvPr id="35" name="Verbinder: gekrümmt 34">
            <a:extLst>
              <a:ext uri="{FF2B5EF4-FFF2-40B4-BE49-F238E27FC236}">
                <a16:creationId xmlns:a16="http://schemas.microsoft.com/office/drawing/2014/main" id="{469CAF3C-A6C1-2A69-B950-084F6562811F}"/>
              </a:ext>
            </a:extLst>
          </p:cNvPr>
          <p:cNvCxnSpPr>
            <a:cxnSpLocks/>
            <a:stCxn id="17" idx="2"/>
            <a:endCxn id="30" idx="1"/>
          </p:cNvCxnSpPr>
          <p:nvPr/>
        </p:nvCxnSpPr>
        <p:spPr>
          <a:xfrm rot="16200000" flipH="1">
            <a:off x="2595308" y="4670207"/>
            <a:ext cx="576000" cy="2700000"/>
          </a:xfrm>
          <a:prstGeom prst="curvedConnector2">
            <a:avLst/>
          </a:prstGeom>
          <a:ln>
            <a:solidFill>
              <a:srgbClr val="5D6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erbinder: gekrümmt 37">
            <a:extLst>
              <a:ext uri="{FF2B5EF4-FFF2-40B4-BE49-F238E27FC236}">
                <a16:creationId xmlns:a16="http://schemas.microsoft.com/office/drawing/2014/main" id="{F7BD23A1-D711-4D4C-EE5A-FEB58814493D}"/>
              </a:ext>
            </a:extLst>
          </p:cNvPr>
          <p:cNvCxnSpPr>
            <a:cxnSpLocks/>
            <a:stCxn id="26" idx="2"/>
          </p:cNvCxnSpPr>
          <p:nvPr/>
        </p:nvCxnSpPr>
        <p:spPr>
          <a:xfrm rot="5400000">
            <a:off x="8771226" y="4586692"/>
            <a:ext cx="637141" cy="2805889"/>
          </a:xfrm>
          <a:prstGeom prst="curvedConnector2">
            <a:avLst/>
          </a:prstGeom>
          <a:ln>
            <a:solidFill>
              <a:srgbClr val="5D6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atumsplatzhalter 40">
            <a:extLst>
              <a:ext uri="{FF2B5EF4-FFF2-40B4-BE49-F238E27FC236}">
                <a16:creationId xmlns:a16="http://schemas.microsoft.com/office/drawing/2014/main" id="{2E2F442B-2C66-B84A-200F-E1FDA6DE6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D876-C589-411D-B12A-A79068647912}" type="datetime1">
              <a:rPr lang="de-DE" smtClean="0"/>
              <a:t>08.07.2026</a:t>
            </a:fld>
            <a:endParaRPr lang="de-DE"/>
          </a:p>
        </p:txBody>
      </p:sp>
      <p:sp>
        <p:nvSpPr>
          <p:cNvPr id="42" name="Fußzeilenplatzhalter 41">
            <a:extLst>
              <a:ext uri="{FF2B5EF4-FFF2-40B4-BE49-F238E27FC236}">
                <a16:creationId xmlns:a16="http://schemas.microsoft.com/office/drawing/2014/main" id="{B3E26F6B-E042-02F2-DC5F-BED5A20CC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43" name="Foliennummernplatzhalter 42">
            <a:extLst>
              <a:ext uri="{FF2B5EF4-FFF2-40B4-BE49-F238E27FC236}">
                <a16:creationId xmlns:a16="http://schemas.microsoft.com/office/drawing/2014/main" id="{312B9E2B-F13D-DF6D-1EF2-8C625D64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6</a:t>
            </a:fld>
            <a:endParaRPr lang="de-DE"/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E5D81CAB-655C-07EA-AEF4-A4CA9C3ECF04}"/>
              </a:ext>
            </a:extLst>
          </p:cNvPr>
          <p:cNvSpPr/>
          <p:nvPr/>
        </p:nvSpPr>
        <p:spPr>
          <a:xfrm>
            <a:off x="4568653" y="6483731"/>
            <a:ext cx="3054694" cy="2009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262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93AE56-4BC6-DE9A-9CF3-C9DCA236C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Pain Points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429FD1-0153-478C-AD04-C07080116F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b="1">
                <a:solidFill>
                  <a:srgbClr val="585CA6"/>
                </a:solidFill>
              </a:rPr>
              <a:t>Melanie (Anfängerin)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/>
              <a:t>Angst, Fehler zu machen oder sich zu blamieren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/>
              <a:t>Traut sich nicht, nach Hilfe zu fragen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/>
              <a:t>Orientierungslosigkeit durch viele Geräte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/>
              <a:t>Unsicherheit bei der Übungsausführung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045647-8301-C19A-C5ED-8A47E7BF22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b="1">
                <a:solidFill>
                  <a:srgbClr val="AA2584"/>
                </a:solidFill>
              </a:rPr>
              <a:t>Marc (Erfahrenes Mitglied)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/>
              <a:t>Möchte helfen, hält sich aber zurück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/>
              <a:t>Keine Anerkennung für Erfahrung und Hilfsbereitschaft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/>
              <a:t>Feste Trainingsroutine, wenig neue Anreize 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/>
              <a:t>Fehlendes Gemeinschaftsgefühl</a:t>
            </a:r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0ED327A-295C-83DD-EAA7-0F472DBAA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D3772C1-88EE-263A-D2D3-E16C2A492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4669-6122-49CD-9554-DFF5D379FBB5}" type="datetime1">
              <a:rPr lang="de-DE" smtClean="0"/>
              <a:t>08.07.2026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EE3FBE5-696A-CD02-5B39-C3AC92C0B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93E689A-424B-993A-618E-9592B22B4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795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8E362-1CD0-D17B-DF1A-CC1C82C5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Marktanalyse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66BD0D0-A9E0-7FBE-02E4-34F9B5429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AD1985F-33A9-BA36-2C3E-BC1C9E38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5D96-8A01-4823-B09D-A0FB2959F6FC}" type="datetime1">
              <a:rPr lang="de-DE" smtClean="0"/>
              <a:t>08.07.2026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4E9EA55-D096-9726-BCF1-6146BF3ED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20F8CD0-7887-AAC3-C347-9C4C2881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8</a:t>
            </a:fld>
            <a:endParaRPr lang="de-DE"/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33337EC8-138D-9883-29EA-22EE27053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603682"/>
              </p:ext>
            </p:extLst>
          </p:nvPr>
        </p:nvGraphicFramePr>
        <p:xfrm>
          <a:off x="958515" y="1460583"/>
          <a:ext cx="10002254" cy="47585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001127">
                  <a:extLst>
                    <a:ext uri="{9D8B030D-6E8A-4147-A177-3AD203B41FA5}">
                      <a16:colId xmlns:a16="http://schemas.microsoft.com/office/drawing/2014/main" val="1935057868"/>
                    </a:ext>
                  </a:extLst>
                </a:gridCol>
                <a:gridCol w="5001127">
                  <a:extLst>
                    <a:ext uri="{9D8B030D-6E8A-4147-A177-3AD203B41FA5}">
                      <a16:colId xmlns:a16="http://schemas.microsoft.com/office/drawing/2014/main" val="3228762432"/>
                    </a:ext>
                  </a:extLst>
                </a:gridCol>
              </a:tblGrid>
              <a:tr h="3694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b="1"/>
                        <a:t>Konzept</a:t>
                      </a:r>
                    </a:p>
                  </a:txBody>
                  <a:tcPr anchor="ctr">
                    <a:solidFill>
                      <a:srgbClr val="698B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Schwächen</a:t>
                      </a:r>
                    </a:p>
                  </a:txBody>
                  <a:tcPr anchor="ctr">
                    <a:solidFill>
                      <a:srgbClr val="698B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486793"/>
                  </a:ext>
                </a:extLst>
              </a:tr>
              <a:tr h="1366764">
                <a:tc>
                  <a:txBody>
                    <a:bodyPr/>
                    <a:lstStyle/>
                    <a:p>
                      <a:pPr algn="l"/>
                      <a:r>
                        <a:rPr lang="de-DE" b="1"/>
                        <a:t>Signal </a:t>
                      </a:r>
                      <a:r>
                        <a:rPr lang="de-DE" b="1" err="1"/>
                        <a:t>Towel</a:t>
                      </a:r>
                      <a:endParaRPr lang="de-DE" b="1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/>
                        <a:t>Mitglieder signalisieren mit einem Handtuch, dass sie offen für Gespräche oder Unterstützung sind</a:t>
                      </a:r>
                    </a:p>
                    <a:p>
                      <a:pPr algn="l"/>
                      <a:endParaRPr lang="de-DE" b="1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/>
                        <a:t>Keine qualifizierte Unterstützung</a:t>
                      </a:r>
                    </a:p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/>
                        <a:t>Keine Motivation oder Gamification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134981"/>
                  </a:ext>
                </a:extLst>
              </a:tr>
              <a:tr h="1457615">
                <a:tc>
                  <a:txBody>
                    <a:bodyPr/>
                    <a:lstStyle/>
                    <a:p>
                      <a:pPr algn="l"/>
                      <a:r>
                        <a:rPr lang="de-DE" b="1"/>
                        <a:t>Underground </a:t>
                      </a:r>
                      <a:r>
                        <a:rPr lang="de-DE" b="1" err="1"/>
                        <a:t>Gym</a:t>
                      </a:r>
                      <a:endParaRPr lang="de-DE" b="1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/>
                        <a:t>Baut eine starke Community durch Mentoring, Anerkennung, Coach-Initiativen und gemeinsame Events auf</a:t>
                      </a:r>
                    </a:p>
                    <a:p>
                      <a:pPr algn="l"/>
                      <a:endParaRPr lang="de-DE" b="1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/>
                        <a:t>Hilfe nur auf Trainerinitiative</a:t>
                      </a:r>
                    </a:p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/>
                        <a:t>Mitglieder können Hilfe nicht selbst anfordern</a:t>
                      </a:r>
                    </a:p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/>
                        <a:t>Kann als aufdringlich empfunden werden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99805"/>
                  </a:ext>
                </a:extLst>
              </a:tr>
              <a:tr h="1457615">
                <a:tc>
                  <a:txBody>
                    <a:bodyPr/>
                    <a:lstStyle/>
                    <a:p>
                      <a:pPr algn="l"/>
                      <a:r>
                        <a:rPr lang="de-DE" b="1"/>
                        <a:t>Buddy-Systeme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/>
                        <a:t>Anfänger werden einem erfahrenen Trainingspartner zugeordnet, der sie beim Einstieg unterstützt</a:t>
                      </a:r>
                    </a:p>
                    <a:p>
                      <a:pPr algn="l"/>
                      <a:endParaRPr lang="de-DE" b="1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/>
                        <a:t>Starre Trainingspartnerschaften</a:t>
                      </a:r>
                    </a:p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/>
                        <a:t>Unterschiedliche Zeitpläne</a:t>
                      </a:r>
                    </a:p>
                    <a:p>
                      <a:pPr marL="285750" indent="-285750">
                        <a:buFont typeface="Symbol" panose="05050102010706020507" pitchFamily="18" charset="2"/>
                        <a:buChar char="-"/>
                      </a:pPr>
                      <a:r>
                        <a:rPr lang="de-DE"/>
                        <a:t>Leistungsunterschiede oder fehlende Sympathie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184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37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0068-34EE-1A20-FCAA-3F2BB9CA9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97E6C77-F568-559B-D8F1-C6FDA6696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848" y="0"/>
            <a:ext cx="8853152" cy="29992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C3D7CD8-4A92-D645-7ABC-4DED9949B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8979"/>
            <a:ext cx="9144000" cy="2387600"/>
          </a:xfrm>
        </p:spPr>
        <p:txBody>
          <a:bodyPr/>
          <a:lstStyle/>
          <a:p>
            <a:r>
              <a:rPr lang="de-DE" b="1">
                <a:solidFill>
                  <a:schemeClr val="bg2">
                    <a:lumMod val="25000"/>
                  </a:schemeClr>
                </a:solidFill>
              </a:rPr>
              <a:t>Unser System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A5C88D0-B7E6-FAE5-6735-FD764BB1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1A115-07A5-43B6-B8B6-A35E9D531F32}" type="datetime1">
              <a:rPr lang="de-DE" smtClean="0"/>
              <a:t>08.07.2026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AB1CB065-2677-E716-0784-D7E3C52B4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7D7FF1B-7FF9-524E-9626-FB974149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566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07B0668-E5D9-387B-FD9F-7A1E8A81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CF0A-267F-4DA1-9F3B-1E83467CAB39}" type="datetime1">
              <a:rPr lang="de-DE" smtClean="0"/>
              <a:t>08.07.2026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30F99C-910D-2080-C75F-D233D8821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B4CC813-D30F-DB9B-5F04-75AFDD136ABB}"/>
              </a:ext>
            </a:extLst>
          </p:cNvPr>
          <p:cNvSpPr/>
          <p:nvPr/>
        </p:nvSpPr>
        <p:spPr>
          <a:xfrm>
            <a:off x="4319337" y="6356350"/>
            <a:ext cx="354931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00C111-517E-D1F2-0ADF-7F304857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10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3B4AAAE-BDD9-2499-B61F-3E6BDB86B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778" y="0"/>
            <a:ext cx="7050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38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E8DB0-F9E4-A308-0705-57EBC1E9B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2C95EA-D62B-B718-CB23-AED102DA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F99CF"/>
                </a:solidFill>
              </a:rPr>
              <a:t>Unser System – </a:t>
            </a:r>
            <a:r>
              <a:rPr lang="de-DE" b="1" dirty="0">
                <a:solidFill>
                  <a:srgbClr val="698AC6"/>
                </a:solidFill>
              </a:rPr>
              <a:t>Farbcodierung</a:t>
            </a:r>
            <a:endParaRPr lang="de-DE" dirty="0">
              <a:solidFill>
                <a:srgbClr val="698AC6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8F2A09-2A82-DB33-7C84-7FC20959A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072" y="2463209"/>
            <a:ext cx="4507036" cy="40223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de-DE" sz="2000"/>
              <a:t>Hauptprinzipien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7D04EF-6BD4-1656-A346-7CEAC8FD6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072" y="2865442"/>
            <a:ext cx="4507037" cy="3077509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/>
              <a:t>Mapping (Thaler &amp; Sunstein): </a:t>
            </a:r>
            <a:r>
              <a:rPr lang="de-DE" sz="1600"/>
              <a:t>Menschen treffen Entscheidungen leichter, wenn komplexe Optionen verständlich strukturiert und auf bereits bekannte Dimensionen abgebildet werden.</a:t>
            </a:r>
          </a:p>
          <a:p>
            <a:pPr marL="0" indent="0">
              <a:buNone/>
            </a:pPr>
            <a:r>
              <a:rPr lang="de-DE" sz="1600" b="1"/>
              <a:t>Priming (Werth &amp; Mayer): </a:t>
            </a:r>
            <a:r>
              <a:rPr lang="de-DE" sz="1600"/>
              <a:t>Plakate bereiten die Mitglieder bereits beim Betreten des Studios auf das Bändchen- und Stempelsystem vor.</a:t>
            </a:r>
          </a:p>
          <a:p>
            <a:pPr marL="0" indent="0">
              <a:buNone/>
            </a:pPr>
            <a:r>
              <a:rPr lang="de-DE" sz="1600" b="1"/>
              <a:t>Soziale Verbundenheit (McGonigal): </a:t>
            </a:r>
            <a:r>
              <a:rPr lang="de-DE" sz="1600"/>
              <a:t>Ein tiefes Gefühl sozialer Verbundenheit entsteht, wenn Menschen ein gemeinsames Verständnis davon teilen, was sie in ihrer Umgebung tun, und auf Augenhöhe interagieren. 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2E26D50-8B11-428D-D527-316EACFBF18A}"/>
              </a:ext>
            </a:extLst>
          </p:cNvPr>
          <p:cNvSpPr txBox="1"/>
          <p:nvPr/>
        </p:nvSpPr>
        <p:spPr>
          <a:xfrm>
            <a:off x="836613" y="153987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Ein einheitliches Farbleitsystem verbindet Geräte, Plakate und Stempelkarte und ermöglicht eine schnelle, intuitive Orientierung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B1263427-FFCD-EF0E-FB9D-788C06B38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C5FC595E-29D3-34A9-C0C9-2FF965E2B93D}"/>
              </a:ext>
            </a:extLst>
          </p:cNvPr>
          <p:cNvSpPr txBox="1"/>
          <p:nvPr/>
        </p:nvSpPr>
        <p:spPr>
          <a:xfrm>
            <a:off x="5895474" y="2463209"/>
            <a:ext cx="4145494" cy="307750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5E6FB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die Mitglieder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Schnelle und einfache Orientierung 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Vermeidung von Überforderung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Einfachere Kommunikation 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Mehr Sicherheit beim Training</a:t>
            </a:r>
            <a:endParaRPr lang="de-DE">
              <a:solidFill>
                <a:srgbClr val="A12A88"/>
              </a:solidFill>
            </a:endParaRP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rgbClr val="A12A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A12A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das Fitnessstudio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Physische Verankerung der Werte im Raumdesign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Weniger Frustration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CD0FAD-8B6F-6AE7-00F0-E6E0BABA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2C31C-F3CF-48A5-BEC7-46AABDFDDEF8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C92546-4D31-0D4D-ECA4-03BF9A44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0600E8-7261-C0C7-D915-9D86839A6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680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F0C2-170B-B378-AE1C-54DCA11C1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7FA168-B962-1334-250A-37714FA2D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98AC6"/>
                </a:solidFill>
              </a:rPr>
              <a:t>User Flow – </a:t>
            </a:r>
            <a:r>
              <a:rPr lang="de-DE" b="1" dirty="0">
                <a:solidFill>
                  <a:srgbClr val="5E72B4"/>
                </a:solidFill>
              </a:rPr>
              <a:t>Farbcodierung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1892F2-9892-D982-BA51-B56AAEAEB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26E-9D65-4F6A-81E5-D6B1DD19F849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36061A-EE5F-A89E-3457-647824A6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03BA03-EBC6-DE61-3635-5C1E2D21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12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2486D09-F63D-DB17-B967-1F9E7B091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101CFC0-185C-FA25-7911-B2BD877F0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Inhaltsplatzhalter 8">
            <a:extLst>
              <a:ext uri="{FF2B5EF4-FFF2-40B4-BE49-F238E27FC236}">
                <a16:creationId xmlns:a16="http://schemas.microsoft.com/office/drawing/2014/main" id="{85BF242E-C45A-3144-9C33-99A9C0804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95090" y="1418981"/>
            <a:ext cx="12706940" cy="488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41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19B949-833A-4728-4FAC-51968E23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F99CF"/>
                </a:solidFill>
              </a:rPr>
              <a:t>Unser System – </a:t>
            </a:r>
            <a:r>
              <a:rPr lang="de-DE" b="1" dirty="0">
                <a:solidFill>
                  <a:srgbClr val="5A68AE"/>
                </a:solidFill>
              </a:rPr>
              <a:t>Support Band</a:t>
            </a:r>
            <a:endParaRPr lang="de-DE" dirty="0">
              <a:solidFill>
                <a:srgbClr val="5A68AE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3A824D-7649-A78B-752B-C24A08184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072" y="2463209"/>
            <a:ext cx="4507036" cy="40223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de-DE" sz="2000"/>
              <a:t>Hauptprinzipien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5FAE48-2AFF-B6CD-8B0D-61A9415F1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071" y="2902117"/>
            <a:ext cx="4507037" cy="3052000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de-DE" sz="2900" b="1" err="1"/>
              <a:t>Strategy</a:t>
            </a:r>
            <a:r>
              <a:rPr lang="de-DE" sz="2900" b="1"/>
              <a:t> 62 (Weinschenk): </a:t>
            </a:r>
            <a:r>
              <a:rPr lang="de-DE" sz="2900"/>
              <a:t>Wenn Menschen etwas Neues ausprobieren sollen, muss man sicherstellen, dass sie sich dabei sicher und wohl fühlen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sz="2900" b="1" err="1"/>
              <a:t>Commitment</a:t>
            </a:r>
            <a:r>
              <a:rPr lang="de-DE" sz="2900" b="1"/>
              <a:t> und Konsistenz (</a:t>
            </a:r>
            <a:r>
              <a:rPr lang="de-DE" sz="2900" b="1" err="1"/>
              <a:t>Cialdini</a:t>
            </a:r>
            <a:r>
              <a:rPr lang="de-DE" sz="2900" b="1"/>
              <a:t>): </a:t>
            </a:r>
            <a:r>
              <a:rPr lang="de-DE" sz="2900"/>
              <a:t>Haben sich Menschen einmal festgelegt, besteht ein starkes psychologisches Streben, sich weiterhin konsistent zu diesem Verhalten zu verhalten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sz="2900" b="1" err="1"/>
              <a:t>Strategy</a:t>
            </a:r>
            <a:r>
              <a:rPr lang="de-DE" sz="2900" b="1"/>
              <a:t> 3 (Weinschenk): </a:t>
            </a:r>
            <a:r>
              <a:rPr lang="de-DE" sz="2900"/>
              <a:t>Um Menschen zu einer Handlung zu bewegen, muss man ihnen zeigen, dass andere dies bereits tun</a:t>
            </a:r>
          </a:p>
          <a:p>
            <a:pPr marL="0" indent="0">
              <a:lnSpc>
                <a:spcPct val="120000"/>
              </a:lnSpc>
              <a:buNone/>
            </a:pPr>
            <a:endParaRPr lang="de-DE"/>
          </a:p>
          <a:p>
            <a:pPr marL="0" indent="0">
              <a:buNone/>
            </a:pPr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D28C3E6-6543-E840-CB6E-3C9FC332CFFD}"/>
              </a:ext>
            </a:extLst>
          </p:cNvPr>
          <p:cNvSpPr txBox="1"/>
          <p:nvPr/>
        </p:nvSpPr>
        <p:spPr>
          <a:xfrm>
            <a:off x="836612" y="1539879"/>
            <a:ext cx="92861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Ein dezentes, aber gut sichtbares Silikonarmband in einer klaren Signalfarbe (z. B. Neongelb)</a:t>
            </a:r>
          </a:p>
          <a:p>
            <a:r>
              <a:rPr lang="de-DE"/>
              <a:t>Es schreit nicht „Anfänger“, sondern signalisiert subtil „Offen für Tipps“</a:t>
            </a:r>
          </a:p>
          <a:p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6C43703-88DF-F040-8B84-45EF31C0C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558D308E-FD85-BC27-9F30-EF422A357DBD}"/>
              </a:ext>
            </a:extLst>
          </p:cNvPr>
          <p:cNvSpPr txBox="1"/>
          <p:nvPr/>
        </p:nvSpPr>
        <p:spPr>
          <a:xfrm>
            <a:off x="5895474" y="2463209"/>
            <a:ext cx="3905236" cy="309289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5E6FB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die Mitglieder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lang="de-DE" sz="1400"/>
              <a:t>Abbau von sozialen Hemmschwellen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lang="de-DE" sz="1400"/>
              <a:t>Volle Kontrolle (Schutz vor ungefragten Tipps)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lang="de-DE" sz="1400"/>
              <a:t>Schnelle Sicherheit bei der Übungsausführung</a:t>
            </a:r>
            <a:endParaRPr 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endParaRPr lang="de-DE" sz="1400">
              <a:solidFill>
                <a:prstClr val="black"/>
              </a:solidFill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A12A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das Fitnessstudio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Trainer sehen sofort, wo Hilfe gewünscht ist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Stärkere Community 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Förderung einer unterstützenden Studiokultur</a:t>
            </a:r>
          </a:p>
        </p:txBody>
      </p:sp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CC42C9CB-521E-87E5-8CF3-3E8BA0E08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6986-D35A-4E18-BEBD-43CFD584207E}" type="datetime1">
              <a:rPr lang="de-DE" smtClean="0"/>
              <a:t>08.07.2026</a:t>
            </a:fld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567CC27F-78DF-21A7-117D-11DBFA788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F8F47820-A39F-CA0E-C790-F0592C8A7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375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2EAE5-559B-FDB9-5FA3-409A7891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B1647E-C4DB-2182-3B58-DA696C7B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F99CF"/>
                </a:solidFill>
              </a:rPr>
              <a:t>Unser System – </a:t>
            </a:r>
            <a:r>
              <a:rPr lang="de-DE" b="1" dirty="0">
                <a:solidFill>
                  <a:srgbClr val="595AA5"/>
                </a:solidFill>
              </a:rPr>
              <a:t>Hilfe-Button</a:t>
            </a:r>
            <a:endParaRPr lang="de-DE" dirty="0">
              <a:solidFill>
                <a:srgbClr val="595AA5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8DE826-EA02-9DE6-4203-B78AEE863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072" y="2463209"/>
            <a:ext cx="4507036" cy="40223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de-DE" sz="2000"/>
              <a:t>Hauptprinzipien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94822D-A140-D158-A69C-5914D2DAE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071" y="2902116"/>
            <a:ext cx="4507037" cy="3376284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de-DE" sz="1350" b="1" err="1"/>
              <a:t>Strategy</a:t>
            </a:r>
            <a:r>
              <a:rPr lang="de-DE" sz="1350" b="1"/>
              <a:t> 67 (Weinschenk): </a:t>
            </a:r>
            <a:r>
              <a:rPr lang="de-DE" sz="1350"/>
              <a:t>Wenn man möchte, dass Menschen partizipieren müssen sie sich dabei absolut sicher fühlen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sz="1350" b="1"/>
              <a:t>Theory of Planned </a:t>
            </a:r>
            <a:r>
              <a:rPr lang="de-DE" sz="1350" b="1" err="1"/>
              <a:t>Behavior</a:t>
            </a:r>
            <a:r>
              <a:rPr lang="de-DE" sz="1350" b="1"/>
              <a:t>: Einstellung gegenüber Verhalten (</a:t>
            </a:r>
            <a:r>
              <a:rPr lang="de-DE" sz="1350" b="1" err="1"/>
              <a:t>Ajzen</a:t>
            </a:r>
            <a:r>
              <a:rPr lang="de-DE" sz="1350" b="1"/>
              <a:t>): </a:t>
            </a:r>
            <a:r>
              <a:rPr lang="de-DE" sz="1350"/>
              <a:t>Die Wahrscheinlichkeit für ein Verhalten steigt massiv, wenn die Person annimmt, dass das Verhalten in ihrem Umfeld als normal und positiv bewertet wird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de-DE" sz="1350" b="1"/>
              <a:t>Theory </a:t>
            </a:r>
            <a:r>
              <a:rPr lang="de-DE" sz="1350" b="1" err="1"/>
              <a:t>of</a:t>
            </a:r>
            <a:r>
              <a:rPr lang="de-DE" sz="1350" b="1"/>
              <a:t> Planned </a:t>
            </a:r>
            <a:r>
              <a:rPr lang="de-DE" sz="1350" b="1" err="1"/>
              <a:t>Behavior</a:t>
            </a:r>
            <a:r>
              <a:rPr lang="de-DE" sz="1350" b="1"/>
              <a:t>: Wahrgenommene Handlungskontrolle (</a:t>
            </a:r>
            <a:r>
              <a:rPr lang="de-DE" sz="1350" b="1" err="1"/>
              <a:t>Ajzen</a:t>
            </a:r>
            <a:r>
              <a:rPr lang="de-DE" sz="1350" b="1"/>
              <a:t>): </a:t>
            </a:r>
            <a:r>
              <a:rPr lang="de-DE" sz="1350"/>
              <a:t>Einstellungen &amp; Absichten basieren darauf, inwieweit Menschen glauben, eine Handlung aktiv selbst ausführen und steuern zu können.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E0B132F-7A60-314A-4D6C-3BF10517AD17}"/>
              </a:ext>
            </a:extLst>
          </p:cNvPr>
          <p:cNvSpPr txBox="1"/>
          <p:nvPr/>
        </p:nvSpPr>
        <p:spPr>
          <a:xfrm>
            <a:off x="836613" y="153987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Dezent in das Gerät integriert, signalisiert der Button durch ein freundliches Symbol und eine positive Botschaft, dass Hilfe anzufordern jederzeit willkommen ist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104F4ED-96E9-175B-BDF6-C614010D1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C1E2828E-9F18-B18C-8A5C-6CAF69CFFC1D}"/>
              </a:ext>
            </a:extLst>
          </p:cNvPr>
          <p:cNvSpPr txBox="1"/>
          <p:nvPr/>
        </p:nvSpPr>
        <p:spPr>
          <a:xfrm>
            <a:off x="5895474" y="2463209"/>
            <a:ext cx="3842014" cy="34468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5E6FB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die Mitglieder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Psychologische Sicherheit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lang="de-DE" sz="1400"/>
              <a:t>Kein Suchen nach Personal auf der Fläche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Volle Kontrolle für die Nutzer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Weniger soziale Hemmschwellen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>
              <a:solidFill>
                <a:srgbClr val="A12A88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A12A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das Fitnessstudio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Gezielte Hilfe</a:t>
            </a:r>
            <a:endParaRPr lang="de-DE" sz="1400">
              <a:ea typeface="+mn-lt"/>
              <a:cs typeface="+mn-lt"/>
            </a:endParaRP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Förderung einer unterstützenden Studiokultur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Reduziertes Verletzungsrisiko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A08E6D-A197-6211-3284-A0156FA61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4A4F-81C7-44E2-819F-CFD21F33B4C4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45C44D-7FC3-3D79-06C2-BBBDBD81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BB6519-E2FF-3A3C-E897-8EAA9478B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951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8D2A65-A075-97ED-F13B-033ED6A9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98AC6"/>
                </a:solidFill>
              </a:rPr>
              <a:t>User Flow – </a:t>
            </a:r>
            <a:r>
              <a:rPr lang="de-DE" b="1" dirty="0">
                <a:solidFill>
                  <a:srgbClr val="5861AA"/>
                </a:solidFill>
              </a:rPr>
              <a:t>Support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BDD7EE12-E26F-F1C7-439A-D81AAE4E3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562" y="1626383"/>
            <a:ext cx="12304141" cy="4012417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DA5927-79E4-EA56-7A4E-C50D6D357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26E-9D65-4F6A-81E5-D6B1DD19F849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34F2AC-2DDC-E337-514F-FFA6CA20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F7FEE6-3FC9-3BBE-C906-F4E3D98FD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15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D67AE77-BC10-F5AC-AED9-B1A2A7257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13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7C442-9EF7-9FC3-7EC0-FC5C6D81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383F4B-340B-D048-4BFC-7D410992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F99CF"/>
                </a:solidFill>
              </a:rPr>
              <a:t>Unser System – </a:t>
            </a:r>
            <a:r>
              <a:rPr lang="de-DE" b="1" dirty="0">
                <a:solidFill>
                  <a:srgbClr val="7C4196"/>
                </a:solidFill>
              </a:rPr>
              <a:t>Anfängerstempelkarte</a:t>
            </a:r>
            <a:endParaRPr lang="de-DE" dirty="0">
              <a:solidFill>
                <a:srgbClr val="7C4196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553C9A-365A-C276-4739-CBC22210B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072" y="2463209"/>
            <a:ext cx="4507036" cy="40223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de-DE" sz="2000"/>
              <a:t>Hauptprinzipien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6C2118-2A9F-506B-7FF6-125E8DF0D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071" y="2902117"/>
            <a:ext cx="4507037" cy="316028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 err="1"/>
              <a:t>Carrots</a:t>
            </a:r>
            <a:r>
              <a:rPr lang="de-DE" sz="1600" b="1"/>
              <a:t> &amp; Sticks: Shaping (Weinschenk): </a:t>
            </a:r>
            <a:r>
              <a:rPr lang="de-DE" sz="1600"/>
              <a:t>Neues Verhalten wird schrittweise geformt, indem man richtige Aktionen unmittelbar durch eine Belohnung positiv bestärkt.</a:t>
            </a:r>
          </a:p>
          <a:p>
            <a:pPr marL="0" indent="0">
              <a:buNone/>
            </a:pPr>
            <a:r>
              <a:rPr lang="de-DE" sz="1600" b="1"/>
              <a:t>More </a:t>
            </a:r>
            <a:r>
              <a:rPr lang="de-DE" sz="1600" b="1" err="1"/>
              <a:t>satisfying</a:t>
            </a:r>
            <a:r>
              <a:rPr lang="de-DE" sz="1600" b="1"/>
              <a:t> </a:t>
            </a:r>
            <a:r>
              <a:rPr lang="de-DE" sz="1600" b="1" err="1"/>
              <a:t>work</a:t>
            </a:r>
            <a:r>
              <a:rPr lang="de-DE" sz="1600" b="1"/>
              <a:t> (McGonigal): </a:t>
            </a:r>
            <a:r>
              <a:rPr lang="de-DE" sz="1600"/>
              <a:t>Zufriedenstellende Arbeit beginnt immer mit zwei Dingen: einem klaren Ziel und direkt umsetzbaren nächsten Schritten.</a:t>
            </a:r>
          </a:p>
          <a:p>
            <a:pPr marL="0" indent="0">
              <a:buNone/>
            </a:pPr>
            <a:r>
              <a:rPr lang="de-DE" sz="1600" b="1" err="1"/>
              <a:t>Communitas</a:t>
            </a:r>
            <a:r>
              <a:rPr lang="de-DE" sz="1600" b="1"/>
              <a:t> (McGonigal): </a:t>
            </a:r>
            <a:r>
              <a:rPr lang="de-DE" sz="1600"/>
              <a:t>Gemeinschaftsgefühl und soziale Verbundenheit entstehen durch kooperatives Handeln und gegenseitige Hilfe auf Augenhöhe.</a:t>
            </a:r>
          </a:p>
          <a:p>
            <a:pPr marL="0" indent="0">
              <a:buNone/>
            </a:pPr>
            <a:endParaRPr lang="de-DE" sz="1800"/>
          </a:p>
          <a:p>
            <a:pPr marL="0" indent="0">
              <a:buNone/>
            </a:pPr>
            <a:endParaRPr lang="de-DE" sz="1800">
              <a:effectLst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BC4E3C9-38D5-070E-1B3F-B9AAE6F078EF}"/>
              </a:ext>
            </a:extLst>
          </p:cNvPr>
          <p:cNvSpPr txBox="1"/>
          <p:nvPr/>
        </p:nvSpPr>
        <p:spPr>
          <a:xfrm>
            <a:off x="836613" y="1539879"/>
            <a:ext cx="10515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>
                <a:ea typeface="+mn-lt"/>
                <a:cs typeface="+mn-lt"/>
              </a:rPr>
              <a:t>Eine physische Karte, die durch kleine, erreichbare Ziele Orientierung bietet, regelmäßiges Training belohnt und spielerisch die Interaktion mit Trainern fördert.</a:t>
            </a:r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8BF2D9B-D3FC-6B1A-B095-28BD30FE1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E1822567-EFC3-506A-AC67-F1203C175AAB}"/>
              </a:ext>
            </a:extLst>
          </p:cNvPr>
          <p:cNvSpPr txBox="1"/>
          <p:nvPr/>
        </p:nvSpPr>
        <p:spPr>
          <a:xfrm>
            <a:off x="5895474" y="2463209"/>
            <a:ext cx="3813416" cy="34468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5E6FB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die Mitglieder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>
                <a:ea typeface="+mn-lt"/>
                <a:cs typeface="+mn-lt"/>
              </a:rPr>
              <a:t> Spielerischer Abbau von Interaktionsängsten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>
                <a:ea typeface="+mn-lt"/>
                <a:cs typeface="+mn-lt"/>
              </a:rPr>
              <a:t> Klare Ziele</a:t>
            </a:r>
            <a:endParaRPr lang="de-DE"/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</a:t>
            </a:r>
            <a:r>
              <a:rPr lang="de-DE" sz="1400">
                <a:ea typeface="+mn-lt"/>
                <a:cs typeface="+mn-lt"/>
              </a:rPr>
              <a:t>Sichtbare, schnelle Erfolgserlebnisse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Gefühl der Zugehörigkeit </a:t>
            </a:r>
          </a:p>
          <a:p>
            <a:pPr>
              <a:lnSpc>
                <a:spcPct val="150000"/>
              </a:lnSpc>
              <a:defRPr/>
            </a:pPr>
            <a:endParaRPr lang="de-DE" i="0" u="none" strike="noStrike" kern="1200" cap="none" spc="0" normalizeH="0" baseline="0" noProof="0">
              <a:ln>
                <a:noFill/>
              </a:ln>
              <a:solidFill>
                <a:srgbClr val="A12A88"/>
              </a:solidFill>
              <a:effectLst/>
              <a:uLnTx/>
              <a:uFillTx/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A12A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das Fitnessstudio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Unterstützende Studiokultur 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Mehr Hilfsbereitschaft 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Leichter Einstieg für Anfänger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E318C5-751A-E29C-2D48-F0C96CAC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2C31C-F3CF-48A5-BEC7-46AABDFDDEF8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A3809E-7BC8-2908-73DC-F72CED11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8FD9720-561F-FD7A-C774-A8B87129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1988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EFF59-4A13-9D53-A7B3-5F7A5E413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D0220-A3AE-7EF7-4FC1-5EC1C85C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F99CF"/>
                </a:solidFill>
              </a:rPr>
              <a:t>Unser System – </a:t>
            </a:r>
            <a:r>
              <a:rPr lang="de-DE" b="1" dirty="0" err="1">
                <a:solidFill>
                  <a:srgbClr val="7C4196"/>
                </a:solidFill>
              </a:rPr>
              <a:t>Erfahrenenstempelkarte</a:t>
            </a:r>
            <a:endParaRPr lang="de-DE" dirty="0">
              <a:solidFill>
                <a:srgbClr val="7C4196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281054-3161-0784-348D-88AA9C3E7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072" y="2463209"/>
            <a:ext cx="4507036" cy="40223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de-DE" sz="2000"/>
              <a:t>Hauptprinzipien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185DCEB-9DE5-383A-7497-D02B42A1E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071" y="2902117"/>
            <a:ext cx="4507037" cy="318188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/>
              <a:t>More </a:t>
            </a:r>
            <a:r>
              <a:rPr lang="de-DE" sz="1600" b="1" err="1"/>
              <a:t>satisfying</a:t>
            </a:r>
            <a:r>
              <a:rPr lang="de-DE" sz="1600" b="1"/>
              <a:t> </a:t>
            </a:r>
            <a:r>
              <a:rPr lang="de-DE" sz="1600" b="1" err="1"/>
              <a:t>work</a:t>
            </a:r>
            <a:r>
              <a:rPr lang="de-DE" sz="1600" b="1"/>
              <a:t> (McGonigal): </a:t>
            </a:r>
            <a:r>
              <a:rPr lang="de-DE" sz="1600"/>
              <a:t>Zufriedenstellende Arbeit beginnt immer mit zwei Dingen: einem klaren Ziel und direkt umsetzbaren nächsten Schritten.</a:t>
            </a:r>
          </a:p>
          <a:p>
            <a:pPr marL="0" indent="0">
              <a:buNone/>
            </a:pPr>
            <a:r>
              <a:rPr lang="de-DE" sz="1600" b="1" err="1"/>
              <a:t>Vicarious</a:t>
            </a:r>
            <a:r>
              <a:rPr lang="de-DE" sz="1600" b="1"/>
              <a:t> Pride (McGonigal): </a:t>
            </a:r>
            <a:r>
              <a:rPr lang="de-DE" sz="1600"/>
              <a:t>Prosoziale Emotionen und stellvertretender Stolz entstehen, wenn man anderen hilft und deren Erfolg miterlebt, was ein tiefes Gefühl der Befriedigung auslöst. </a:t>
            </a:r>
          </a:p>
          <a:p>
            <a:pPr marL="0" indent="0">
              <a:buNone/>
            </a:pPr>
            <a:r>
              <a:rPr lang="de-DE" sz="1600" b="1"/>
              <a:t>Epic Wins (McGonigal): </a:t>
            </a:r>
            <a:r>
              <a:rPr lang="de-DE" sz="1600"/>
              <a:t>Ein epischer Sieg ist ein fantastischer Erfolg und das Ergebnis extrem skalierter, gemeinsamer Anstrengungen. </a:t>
            </a:r>
          </a:p>
          <a:p>
            <a:pPr marL="0" indent="0">
              <a:buNone/>
            </a:pPr>
            <a:endParaRPr lang="de-DE" sz="1800"/>
          </a:p>
          <a:p>
            <a:pPr marL="0" indent="0">
              <a:buNone/>
            </a:pPr>
            <a:endParaRPr lang="de-DE" sz="1800">
              <a:effectLst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C7EFFDF-DF59-6896-EFE2-F1C1C7368373}"/>
              </a:ext>
            </a:extLst>
          </p:cNvPr>
          <p:cNvSpPr txBox="1"/>
          <p:nvPr/>
        </p:nvSpPr>
        <p:spPr>
          <a:xfrm>
            <a:off x="836613" y="1539879"/>
            <a:ext cx="10515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/>
              <a:t>Eine physische Karte, die gute </a:t>
            </a:r>
            <a:r>
              <a:rPr lang="de-DE" err="1"/>
              <a:t>Gym</a:t>
            </a:r>
            <a:r>
              <a:rPr lang="de-DE"/>
              <a:t>-Etikette und soziales Verhalten in motivierende Quests verpackt, um rücksichtsvolles Handeln auf der Fläche spielerisch zu etablieren und zu belohnen.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633FBB8-0DBF-70E7-7A47-8AFDC40A0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BB0668D2-50B3-AE08-B497-4EE74D232245}"/>
              </a:ext>
            </a:extLst>
          </p:cNvPr>
          <p:cNvSpPr txBox="1"/>
          <p:nvPr/>
        </p:nvSpPr>
        <p:spPr>
          <a:xfrm>
            <a:off x="5895474" y="2463209"/>
            <a:ext cx="4107022" cy="30313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5E6FB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die Mitglieder</a:t>
            </a: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>
                <a:ea typeface="+mn-lt"/>
                <a:cs typeface="+mn-lt"/>
              </a:rPr>
              <a:t> </a:t>
            </a:r>
            <a:r>
              <a:rPr lang="de-DE" sz="1400"/>
              <a:t>Wertschätzung für Erfahrung und gutes Verhalten</a:t>
            </a:r>
            <a:endParaRPr lang="de-DE" sz="1400">
              <a:ea typeface="+mn-lt"/>
              <a:cs typeface="+mn-lt"/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>
                <a:ea typeface="+mn-lt"/>
                <a:cs typeface="+mn-lt"/>
              </a:rPr>
              <a:t> </a:t>
            </a:r>
            <a:r>
              <a:rPr lang="de-DE" sz="1400"/>
              <a:t>Sichtbarer Status durch exklusive Belohnungen</a:t>
            </a:r>
            <a:endParaRPr lang="de-DE"/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Fördert prosoziales Verhalten</a:t>
            </a:r>
            <a:endParaRPr lang="de-DE" sz="1400">
              <a:ea typeface="+mn-lt"/>
              <a:cs typeface="+mn-lt"/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Unterstützende </a:t>
            </a:r>
            <a:r>
              <a:rPr lang="de-DE" sz="1400" err="1"/>
              <a:t>Gym</a:t>
            </a:r>
            <a:r>
              <a:rPr lang="de-DE" sz="1400"/>
              <a:t>-Gemeinschaft</a:t>
            </a:r>
          </a:p>
          <a:p>
            <a:pPr>
              <a:lnSpc>
                <a:spcPct val="150000"/>
              </a:lnSpc>
              <a:defRPr/>
            </a:pPr>
            <a:endParaRPr lang="de-DE" i="0" u="none" strike="noStrike" kern="1200" cap="none" spc="0" normalizeH="0" baseline="0" noProof="0">
              <a:ln>
                <a:noFill/>
              </a:ln>
              <a:solidFill>
                <a:srgbClr val="A12A88"/>
              </a:solidFill>
              <a:effectLst/>
              <a:uLnTx/>
              <a:uFillTx/>
              <a:latin typeface="Aptos" panose="0211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A12A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das Fitnessstudio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Entlastetes Personal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Langfristige Bindung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0C3BA8-5532-2748-A374-4B06FE6CE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2C31C-F3CF-48A5-BEC7-46AABDFDDEF8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19B64A-EE6A-073A-99F8-0FC6D257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AD00BF-D9D9-5D0C-7A7A-8C04A62FB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435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2B26E-0FDF-7D17-B23D-6FF097804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D960B4-AD28-EA50-B5B1-F51D213D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F99CF"/>
                </a:solidFill>
              </a:rPr>
              <a:t>Unser System – </a:t>
            </a:r>
            <a:r>
              <a:rPr lang="de-DE" b="1" dirty="0" err="1">
                <a:solidFill>
                  <a:srgbClr val="AA2484"/>
                </a:solidFill>
              </a:rPr>
              <a:t>Rewardsystem</a:t>
            </a:r>
            <a:endParaRPr lang="de-DE" dirty="0">
              <a:solidFill>
                <a:srgbClr val="AA2484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0385FE-14D5-2A5D-88FA-68F84CBCD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072" y="2463209"/>
            <a:ext cx="4507036" cy="40223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de-DE" sz="2000"/>
              <a:t>Hauptprinzipien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F950B4-CE18-1685-CF9A-0B8A7D525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8071" y="2902116"/>
            <a:ext cx="4507037" cy="3340283"/>
          </a:xfrm>
          <a:blipFill dpi="0" rotWithShape="1">
            <a:blip r:embed="rId3">
              <a:alphaModFix amt="44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450" b="1" err="1">
                <a:effectLst/>
              </a:rPr>
              <a:t>Meaning</a:t>
            </a:r>
            <a:r>
              <a:rPr lang="de-DE" sz="1450" b="1">
                <a:effectLst/>
              </a:rPr>
              <a:t> (McGonigal): </a:t>
            </a:r>
            <a:r>
              <a:rPr lang="de-DE" sz="1450">
                <a:effectLst/>
              </a:rPr>
              <a:t>Sinn entsteht aus der Überzeugung, Teil von etwas zu sein, das größer ist als man selbst und über das eigene individuelle Leben hinaus Bedeutung hat</a:t>
            </a:r>
            <a:endParaRPr lang="de-DE" sz="1450"/>
          </a:p>
          <a:p>
            <a:pPr marL="0" indent="0">
              <a:buNone/>
            </a:pPr>
            <a:r>
              <a:rPr lang="de-DE" sz="1450" b="1" err="1">
                <a:effectLst/>
              </a:rPr>
              <a:t>Resource</a:t>
            </a:r>
            <a:r>
              <a:rPr lang="de-DE" sz="1450" b="1">
                <a:effectLst/>
              </a:rPr>
              <a:t> Building (McGonigal): </a:t>
            </a:r>
            <a:r>
              <a:rPr lang="de-DE" sz="1450">
                <a:effectLst/>
              </a:rPr>
              <a:t>Produktives Handeln stärkt unser Gefühl von Selbstwert, weil wir spüren, dass wir aktiv unsere persönlichen und sozialen Ressourcen ausbauen</a:t>
            </a:r>
            <a:endParaRPr lang="de-DE" sz="1450"/>
          </a:p>
          <a:p>
            <a:pPr marL="0" indent="0">
              <a:buNone/>
            </a:pPr>
            <a:r>
              <a:rPr lang="de-DE" sz="1450" b="1" err="1">
                <a:effectLst/>
              </a:rPr>
              <a:t>Strategy</a:t>
            </a:r>
            <a:r>
              <a:rPr lang="de-DE" sz="1450" b="1">
                <a:effectLst/>
              </a:rPr>
              <a:t> 60 (Weinschenk): </a:t>
            </a:r>
            <a:r>
              <a:rPr lang="de-DE" sz="1450">
                <a:effectLst/>
              </a:rPr>
              <a:t>Wenn Menschen ein Produkt wertschätzen sollen, muss man es verknappen oder schwer zugänglich machen</a:t>
            </a:r>
          </a:p>
          <a:p>
            <a:pPr marL="0" indent="0">
              <a:buNone/>
            </a:pPr>
            <a:r>
              <a:rPr lang="de-DE" sz="1450" b="1" err="1"/>
              <a:t>Communitas</a:t>
            </a:r>
            <a:r>
              <a:rPr lang="de-DE" sz="1450" b="1"/>
              <a:t> (McGonigal): </a:t>
            </a:r>
            <a:r>
              <a:rPr lang="de-DE" sz="1450"/>
              <a:t>Gemeinschaftsgefühl und soziale Verbundenheit entstehen durch kooperatives Handeln und gegenseitige Hilfe auf Augenhöhe.</a:t>
            </a:r>
          </a:p>
          <a:p>
            <a:pPr marL="0" indent="0">
              <a:buNone/>
            </a:pPr>
            <a:endParaRPr lang="de-DE" sz="1500">
              <a:effectLst/>
            </a:endParaRPr>
          </a:p>
          <a:p>
            <a:pPr marL="0" indent="0">
              <a:buNone/>
            </a:pPr>
            <a:endParaRPr lang="de-DE" sz="1500">
              <a:effectLst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F0C175C-37AF-C8DB-C8A2-6121C8FAD694}"/>
              </a:ext>
            </a:extLst>
          </p:cNvPr>
          <p:cNvSpPr txBox="1"/>
          <p:nvPr/>
        </p:nvSpPr>
        <p:spPr>
          <a:xfrm>
            <a:off x="836613" y="153987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Jeder gesammelte Stempel trägt sowohl zum persönlichen Fortschritt als auch zu einem gemeinsamen Community-Ziel bei und motiviert durch Belohnungen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18961D4-0760-B700-64C3-5C6FC41D4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0A6C785E-84B9-AD54-B714-3FB2E20AB9AD}"/>
              </a:ext>
            </a:extLst>
          </p:cNvPr>
          <p:cNvSpPr txBox="1"/>
          <p:nvPr/>
        </p:nvSpPr>
        <p:spPr>
          <a:xfrm>
            <a:off x="5895474" y="2463209"/>
            <a:ext cx="3813416" cy="34006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5E6FB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die Mitglieder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Langfristige Motivation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Sichtbare Erfolgserlebnisse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Stärkeres Gemeinschaftsgefühl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Mehr Spaß am Training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rgbClr val="A12A8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A12A8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Mehrwert für das Fitnessstudio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Höhere Mitgliederbindung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Mehr Trainingsbesuche</a:t>
            </a:r>
          </a:p>
          <a:p>
            <a:pPr lvl="0">
              <a:lnSpc>
                <a:spcPct val="150000"/>
              </a:lnSpc>
              <a:buFont typeface="Symbol" panose="05050102010706020507" pitchFamily="18" charset="2"/>
              <a:buChar char="-"/>
              <a:defRPr/>
            </a:pPr>
            <a:r>
              <a:rPr lang="de-DE" sz="1400"/>
              <a:t> Positives Trainingsklima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BA5BF4-02E4-A1A4-7E86-54314D66C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5E64-A89C-48D3-93C4-70004AF3D330}" type="datetime1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E49F5F-5D00-64FD-758D-07630D1B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CAD204-64CE-9345-819B-FDB67FE3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1268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E3D8-AF42-26BD-60C4-FB9F785D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377546-C40A-91F9-276A-79EFCA56C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698AC6"/>
                </a:solidFill>
              </a:rPr>
              <a:t>User Flow – </a:t>
            </a:r>
            <a:r>
              <a:rPr lang="de-DE" b="1" dirty="0">
                <a:solidFill>
                  <a:srgbClr val="7C4196"/>
                </a:solidFill>
              </a:rPr>
              <a:t>Stempelkarten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890D32D-E4C4-176D-5CAF-C6D04DE23D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2400" y="1690688"/>
            <a:ext cx="12550916" cy="4092892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4BC12E-D5AF-62BE-BC06-101F802B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26E-9D65-4F6A-81E5-D6B1DD19F849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39249-9E76-FD4A-CE10-B955C206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75EE84-F93D-2A85-355B-BB6582CA5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19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640884D-44DA-788E-D54C-82CE5E3DA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077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5C64-1D42-5A08-C870-E99E62B5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0CF2A3-B781-26D1-4681-E33FB92F2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Diskussion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22D29E-0A46-1C4E-B604-E0C1A387B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Wir lenken das Verhalten der Mitglieder durch psychologische Trigger fast unbewusst. </a:t>
            </a:r>
            <a:br>
              <a:rPr lang="de-DE"/>
            </a:br>
            <a:r>
              <a:rPr lang="de-DE" b="1"/>
              <a:t>Wo endet für euch gutes „Nudging“ und wo beginnt manipulative Steuerung?</a:t>
            </a:r>
          </a:p>
          <a:p>
            <a:pPr marL="0" indent="0">
              <a:buNone/>
            </a:pPr>
            <a:endParaRPr lang="de-DE" b="1"/>
          </a:p>
          <a:p>
            <a:r>
              <a:rPr lang="de-DE"/>
              <a:t>Wir belohnen Hilfsbereitschaft und </a:t>
            </a:r>
            <a:r>
              <a:rPr lang="de-DE" err="1"/>
              <a:t>Gym</a:t>
            </a:r>
            <a:r>
              <a:rPr lang="de-DE"/>
              <a:t>-Etikette systematisch mit Stempeln. </a:t>
            </a:r>
            <a:br>
              <a:rPr lang="de-DE"/>
            </a:br>
            <a:r>
              <a:rPr lang="de-DE" b="1"/>
              <a:t>Zerstören wir dadurch langfristig die echte, intrinsische Motivation der Mitglieder?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681250-5508-93D6-F5AA-F883F53A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6226E-9D65-4F6A-81E5-D6B1DD19F849}" type="datetime1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525CD4-F1DB-DB9E-A87A-5F993B591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0C5452-2B0D-B310-CE56-28D7BD67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20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29139B9-B2B3-BF7F-3672-765E99AF0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427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D995A-8507-3364-6C9D-E0AED4E74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898FAB4-1DCC-8552-304A-1F37DB5F8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848" y="0"/>
            <a:ext cx="8853152" cy="29992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C5C7D94-1B7E-1CDE-8E33-E3907BBFD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8979"/>
            <a:ext cx="9144000" cy="2387600"/>
          </a:xfrm>
        </p:spPr>
        <p:txBody>
          <a:bodyPr/>
          <a:lstStyle/>
          <a:p>
            <a:r>
              <a:rPr lang="de-DE" b="1">
                <a:solidFill>
                  <a:schemeClr val="bg2">
                    <a:lumMod val="25000"/>
                  </a:schemeClr>
                </a:solidFill>
              </a:rPr>
              <a:t>Fragen?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4789E642-5F1E-6B4F-3409-FD76CA165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1A115-07A5-43B6-B8B6-A35E9D531F32}" type="datetime1">
              <a:rPr lang="de-DE" smtClean="0"/>
              <a:t>08.07.2026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18653D9-B2DA-5276-3A74-58883E78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Persuasive UX – Abschlusspräsentation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5688C6D-DBAC-1DBC-9782-1BF42CF5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1795C-DF98-457E-A0E8-9F57175ABDB0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4463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2206E088443CC4BA131813B36F8CF38" ma:contentTypeVersion="5" ma:contentTypeDescription="Ein neues Dokument erstellen." ma:contentTypeScope="" ma:versionID="c2f57ba2458de53db7399649c5daf09b">
  <xsd:schema xmlns:xsd="http://www.w3.org/2001/XMLSchema" xmlns:xs="http://www.w3.org/2001/XMLSchema" xmlns:p="http://schemas.microsoft.com/office/2006/metadata/properties" xmlns:ns3="8dc3cddf-0c7c-4131-aa05-23416cb8dc9b" targetNamespace="http://schemas.microsoft.com/office/2006/metadata/properties" ma:root="true" ma:fieldsID="ae3a3b6a0bada54f90540a97af2141fb" ns3:_="">
    <xsd:import namespace="8dc3cddf-0c7c-4131-aa05-23416cb8dc9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c3cddf-0c7c-4131-aa05-23416cb8dc9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c3cddf-0c7c-4131-aa05-23416cb8dc9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5CEE67-3B0A-4173-A16F-FC822625E3FB}">
  <ds:schemaRefs>
    <ds:schemaRef ds:uri="8dc3cddf-0c7c-4131-aa05-23416cb8dc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C212196-97CA-48FA-A356-E3E4AA978E55}">
  <ds:schemaRefs>
    <ds:schemaRef ds:uri="8dc3cddf-0c7c-4131-aa05-23416cb8dc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33F4B8B-8C12-4A6E-8D71-0FFCCA98AE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1394</Words>
  <Application>Microsoft Office PowerPoint</Application>
  <PresentationFormat>Breitbild</PresentationFormat>
  <Paragraphs>264</Paragraphs>
  <Slides>21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Symbol</vt:lpstr>
      <vt:lpstr>Symbol,sans-serif</vt:lpstr>
      <vt:lpstr>Office</vt:lpstr>
      <vt:lpstr>Abschlusspräsentation</vt:lpstr>
      <vt:lpstr>Teamvorstellung</vt:lpstr>
      <vt:lpstr>Gliederung</vt:lpstr>
      <vt:lpstr>Zielsetzung</vt:lpstr>
      <vt:lpstr>Nutzungskontext &amp; Zielgruppen</vt:lpstr>
      <vt:lpstr>Nutzungskontext &amp; Zielgruppen</vt:lpstr>
      <vt:lpstr>Pain Points</vt:lpstr>
      <vt:lpstr>Marktanalyse</vt:lpstr>
      <vt:lpstr>Unser System</vt:lpstr>
      <vt:lpstr>PowerPoint-Präsentation</vt:lpstr>
      <vt:lpstr>Unser System – Farbcodierung</vt:lpstr>
      <vt:lpstr>User Flow – Farbcodierung</vt:lpstr>
      <vt:lpstr>Unser System – Support Band</vt:lpstr>
      <vt:lpstr>Unser System – Hilfe-Button</vt:lpstr>
      <vt:lpstr>User Flow – Support</vt:lpstr>
      <vt:lpstr>Unser System – Anfängerstempelkarte</vt:lpstr>
      <vt:lpstr>Unser System – Erfahrenenstempelkarte</vt:lpstr>
      <vt:lpstr>Unser System – Rewardsystem</vt:lpstr>
      <vt:lpstr>User Flow – Stempelkarten</vt:lpstr>
      <vt:lpstr>Diskussion</vt:lpstr>
      <vt:lpstr>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Eda Muratoglu</dc:creator>
  <cp:lastModifiedBy>georg reiss</cp:lastModifiedBy>
  <cp:revision>6</cp:revision>
  <dcterms:created xsi:type="dcterms:W3CDTF">2026-07-08T12:43:44Z</dcterms:created>
  <dcterms:modified xsi:type="dcterms:W3CDTF">2026-07-08T20:36:59Z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0x010100A2206E088443CC4BA131813B36F8CF38</vt:lpwstr>
  </property>
</Properties>
</file>